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A8C4E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A8C4E0"/>
                </a:solidFill>
                <a:latin typeface="Arial"/>
              </a:rPr>
              <a:t>Avg Discount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Discount %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Central</c:v>
                  </c:pt>
                  <c:pt idx="1">
                    <c:v>East</c:v>
                  </c:pt>
                  <c:pt idx="2">
                    <c:v>South</c:v>
                  </c:pt>
                  <c:pt idx="3">
                    <c:v>West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</c:v>
                </c:pt>
                <c:pt idx="1">
                  <c:v>15</c:v>
                </c:pt>
                <c:pt idx="2">
                  <c:v>15</c:v>
                </c:pt>
                <c:pt idx="3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C4E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F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C4E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3055"/>
        </a:solidFill>
        <a:ln>
          <a:noFill/>
        </a:ln>
        <a:effectLst/>
      </c:spPr>
    </c:plotArea>
    <c:plotVisOnly val="1"/>
    <c:dispBlanksAs val="span"/>
  </c:chart>
  <c:spPr>
    <a:solidFill>
      <a:srgbClr val="1E30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A8C4E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A8C4E0"/>
                </a:solidFill>
                <a:latin typeface="Arial"/>
              </a:rPr>
              <a:t>Total Profit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Profit $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Central</c:v>
                  </c:pt>
                  <c:pt idx="1">
                    <c:v>East</c:v>
                  </c:pt>
                  <c:pt idx="2">
                    <c:v>South</c:v>
                  </c:pt>
                  <c:pt idx="3">
                    <c:v>West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39706</c:v>
                </c:pt>
                <c:pt idx="1">
                  <c:v>91523</c:v>
                </c:pt>
                <c:pt idx="2">
                  <c:v>46749</c:v>
                </c:pt>
                <c:pt idx="3">
                  <c:v>108418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C4E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F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C4E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3055"/>
        </a:solidFill>
        <a:ln>
          <a:noFill/>
        </a:ln>
        <a:effectLst/>
      </c:spPr>
    </c:plotArea>
    <c:plotVisOnly val="1"/>
    <c:dispBlanksAs val="span"/>
  </c:chart>
  <c:spPr>
    <a:solidFill>
      <a:srgbClr val="1E305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A8C4E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A8C4E0"/>
                </a:solidFill>
                <a:latin typeface="Arial"/>
              </a:rPr>
              <a:t>Loss-Making Orders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Loss-Making Orders %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Central</c:v>
                  </c:pt>
                  <c:pt idx="1">
                    <c:v>East</c:v>
                  </c:pt>
                  <c:pt idx="2">
                    <c:v>South</c:v>
                  </c:pt>
                  <c:pt idx="3">
                    <c:v>West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31.9</c:v>
                </c:pt>
                <c:pt idx="1">
                  <c:v>19.4</c:v>
                </c:pt>
                <c:pt idx="2">
                  <c:v>16</c:v>
                </c:pt>
                <c:pt idx="3">
                  <c:v>9.9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C4E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F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C4E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3055"/>
        </a:solidFill>
        <a:ln>
          <a:noFill/>
        </a:ln>
        <a:effectLst/>
      </c:spPr>
    </c:plotArea>
    <c:plotVisOnly val="1"/>
    <c:dispBlanksAs val="span"/>
  </c:chart>
  <c:spPr>
    <a:solidFill>
      <a:srgbClr val="1E3055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2A4A"/>
                </a:solidFill>
                <a:latin typeface="Arial"/>
              </a:rPr>
              <a:t>Sub-Category Profit (Top 5 by Loss)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Profit ($)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8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Tables</c:v>
                  </c:pt>
                  <c:pt idx="1">
                    <c:v>Bookcases</c:v>
                  </c:pt>
                  <c:pt idx="2">
                    <c:v>Supplies</c:v>
                  </c:pt>
                  <c:pt idx="3">
                    <c:v>Machines</c:v>
                  </c:pt>
                  <c:pt idx="4">
                    <c:v>Fasteners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-17725</c:v>
                </c:pt>
                <c:pt idx="1">
                  <c:v>-3473</c:v>
                </c:pt>
                <c:pt idx="2">
                  <c:v>-1189</c:v>
                </c:pt>
                <c:pt idx="3">
                  <c:v>3385</c:v>
                </c:pt>
                <c:pt idx="4">
                  <c:v>950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C28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2F4F7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A8C4E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A8C4E0"/>
                </a:solidFill>
                <a:latin typeface="Arial"/>
              </a:rPr>
              <a:t>Total Sales vs Total Loss per Customer (Engineered from Dataset)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($)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Cindy S.</c:v>
                  </c:pt>
                  <c:pt idx="1">
                    <c:v>Grant T.</c:v>
                  </c:pt>
                  <c:pt idx="2">
                    <c:v>Luke F.</c:v>
                  </c:pt>
                  <c:pt idx="3">
                    <c:v>Sharelle R.</c:v>
                  </c:pt>
                  <c:pt idx="4">
                    <c:v>Henry G.</c:v>
                  </c:pt>
                  <c:pt idx="5">
                    <c:v>Nathan C.</c:v>
                  </c:pt>
                  <c:pt idx="6">
                    <c:v>Sean B.</c:v>
                  </c:pt>
                  <c:pt idx="7">
                    <c:v>Sean M.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5690</c:v>
                </c:pt>
                <c:pt idx="1">
                  <c:v>9351</c:v>
                </c:pt>
                <c:pt idx="2">
                  <c:v>3931</c:v>
                </c:pt>
                <c:pt idx="3">
                  <c:v>3233</c:v>
                </c:pt>
                <c:pt idx="4">
                  <c:v>3248</c:v>
                </c:pt>
                <c:pt idx="5">
                  <c:v>2219</c:v>
                </c:pt>
                <c:pt idx="6">
                  <c:v>8058</c:v>
                </c:pt>
                <c:pt idx="7">
                  <c:v>25043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Loss ($)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Cindy S.</c:v>
                  </c:pt>
                  <c:pt idx="1">
                    <c:v>Grant T.</c:v>
                  </c:pt>
                  <c:pt idx="2">
                    <c:v>Luke F.</c:v>
                  </c:pt>
                  <c:pt idx="3">
                    <c:v>Sharelle R.</c:v>
                  </c:pt>
                  <c:pt idx="4">
                    <c:v>Henry G.</c:v>
                  </c:pt>
                  <c:pt idx="5">
                    <c:v>Nathan C.</c:v>
                  </c:pt>
                  <c:pt idx="6">
                    <c:v>Sean B.</c:v>
                  </c:pt>
                  <c:pt idx="7">
                    <c:v>Sean M.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6626</c:v>
                </c:pt>
                <c:pt idx="1">
                  <c:v>4109</c:v>
                </c:pt>
                <c:pt idx="2">
                  <c:v>3584</c:v>
                </c:pt>
                <c:pt idx="3">
                  <c:v>3334</c:v>
                </c:pt>
                <c:pt idx="4">
                  <c:v>2798</c:v>
                </c:pt>
                <c:pt idx="5">
                  <c:v>2205</c:v>
                </c:pt>
                <c:pt idx="6">
                  <c:v>2083</c:v>
                </c:pt>
                <c:pt idx="7">
                  <c:v>1981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C4E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F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C4E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3055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A8C4E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E3055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2A4A"/>
                </a:solidFill>
                <a:latin typeface="Arial"/>
              </a:rPr>
              <a:t>Year-over-Year Net Profit (2014–2017)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Profit ($)</c:v>
                </c:pt>
              </c:strCache>
            </c:strRef>
          </c:tx>
          <c:spPr>
            <a:solidFill>
              <a:srgbClr val="2A9D8F"/>
            </a:solidFill>
            <a:ln w="38100" cap="flat">
              <a:solidFill>
                <a:srgbClr val="2A9D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28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2014</c:v>
                  </c:pt>
                  <c:pt idx="1">
                    <c:v>2015</c:v>
                  </c:pt>
                  <c:pt idx="2">
                    <c:v>2016</c:v>
                  </c:pt>
                  <c:pt idx="3">
                    <c:v>2017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49544</c:v>
                </c:pt>
                <c:pt idx="1">
                  <c:v>61619</c:v>
                </c:pt>
                <c:pt idx="2">
                  <c:v>81795</c:v>
                </c:pt>
                <c:pt idx="3">
                  <c:v>93439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C28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2F4F7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image" Target="../media/image-5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image" Target="../media/image-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1E3055"/>
          </a:solidFill>
          <a:ln w="12700">
            <a:solidFill>
              <a:srgbClr val="1E30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12213A"/>
          </a:solidFill>
          <a:ln w="12700">
            <a:solidFill>
              <a:srgbClr val="12213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7432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91440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DISCOUNT OR DECEIT?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365760" y="17830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Retail Fraud Patterns with Hierarchical Clustering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65760" y="2423160"/>
            <a:ext cx="5029200" cy="365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25603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pPr indent="0" marL="0">
              <a:buNone/>
            </a:pPr>
            <a:r>
              <a:rPr lang="en-US" sz="130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Superstore  |  9,994 Transactions  |  2014–2017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28803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pPr indent="0" marL="0">
              <a:buNone/>
            </a:pPr>
            <a:r>
              <a:rPr lang="en-US" sz="130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Scikit-learn · SciPy · Hierarchical Clustering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" y="32004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</a:t>
            </a:r>
            <a:pPr indent="0" marL="0">
              <a:buNone/>
            </a:pPr>
            <a:r>
              <a:rPr lang="en-US" sz="130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Efa Godspower  |  Data Science Portfolio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65760" y="4389120"/>
            <a:ext cx="2011680" cy="411480"/>
          </a:xfrm>
          <a:prstGeom prst="rect">
            <a:avLst>
              <a:gd name="adj" fmla="val 11111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4389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ANALYTICS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468880" y="4389120"/>
            <a:ext cx="2194560" cy="411480"/>
          </a:xfrm>
          <a:prstGeom prst="rect">
            <a:avLst>
              <a:gd name="adj" fmla="val 11111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68880" y="4389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ML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54880" y="4389120"/>
            <a:ext cx="1828800" cy="411480"/>
          </a:xfrm>
          <a:prstGeom prst="rect">
            <a:avLst>
              <a:gd name="adj" fmla="val 11111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54880" y="4389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960120"/>
            <a:ext cx="269748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00584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10058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11480" y="1691640"/>
            <a:ext cx="2423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793 Superstore customers using Agglomerative Hierarchical Clustering to reveal hidden purchasing behaviour patterns.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154680" y="96012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154680" y="960120"/>
            <a:ext cx="2697480" cy="5943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00584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21608" y="10058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291840" y="1691640"/>
            <a:ext cx="2423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 customer-level KPIs → Hopkins test → Ward linkage dendrogram → Silhouette sweep → Cluster profiling.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035040" y="96012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035040" y="960120"/>
            <a:ext cx="2697480" cy="5943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1005840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01968" y="10058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Discovery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172200" y="1691640"/>
            <a:ext cx="2423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exposed a systematic discount abuse pattern concentrated in one region — a fraud signal invisible to standard reporting.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274320" y="4572000"/>
            <a:ext cx="859536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274320" y="4572000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Load &amp; Explore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1499616" y="4572000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Feature Engineering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2724912" y="4572000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Scale &amp; Hopkins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3950208" y="4572000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Dendrogram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5175504" y="4572000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Silhouette k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6400800" y="4572000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Cluster Profiles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7626096" y="4572000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Fraud Analysis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KPIs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Superstore  |  9,994 Transactions  |  2014–2017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591056" cy="1463040"/>
          </a:xfrm>
          <a:prstGeom prst="rect">
            <a:avLst/>
          </a:prstGeom>
          <a:solidFill>
            <a:srgbClr val="1E3055"/>
          </a:solidFill>
          <a:ln w="12700">
            <a:solidFill>
              <a:srgbClr val="1E30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234440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9,994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993392" y="1051560"/>
            <a:ext cx="1591056" cy="1463040"/>
          </a:xfrm>
          <a:prstGeom prst="rect">
            <a:avLst/>
          </a:prstGeom>
          <a:solidFill>
            <a:srgbClr val="1E3055"/>
          </a:solidFill>
          <a:ln w="12700">
            <a:solidFill>
              <a:srgbClr val="1E30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93392" y="1234440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$2.30M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993392" y="1920240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712464" y="1051560"/>
            <a:ext cx="1591056" cy="14630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12464" y="1234440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$286K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712464" y="1920240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31536" y="1051560"/>
            <a:ext cx="1591056" cy="146304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31536" y="1234440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18.7%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431536" y="1920240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Loss-Making Orders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50608" y="1051560"/>
            <a:ext cx="1591056" cy="146304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50608" y="1234440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$156K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150608" y="1920240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Losses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697480"/>
            <a:ext cx="1591056" cy="1463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" y="2880360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A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$97K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74320" y="3566160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Discount-Related Losses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993392" y="2697480"/>
            <a:ext cx="1591056" cy="146304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993392" y="2880360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300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993392" y="3566160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80% Disc. Orders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712464" y="2697480"/>
            <a:ext cx="1591056" cy="146304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712464" y="2880360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Central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712464" y="3566160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Region — 80% Disc.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31536" y="2697480"/>
            <a:ext cx="1591056" cy="146304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431536" y="2880360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31.9%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431536" y="3566160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Loss Rate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150608" y="2697480"/>
            <a:ext cx="1591056" cy="1463040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150608" y="2880360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Texas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150608" y="3566160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Loss State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44348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All 300 maximum-discount orders originated exclusively from the Central region — Texas (200) and Illinois (100).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868680"/>
            <a:ext cx="502920" cy="1234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6868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9418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252728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9,994 order rows to 793 unique customers.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Total Sales, Total Profit,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Quantity, Avg Discount.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224028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240280"/>
            <a:ext cx="502920" cy="12344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24028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23134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Hopkins Statistic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624328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cluster tendency before fitting.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&gt; 0.5 confirms meaningful structure exists in the data.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361188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611880"/>
            <a:ext cx="502920" cy="1234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61188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36850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Linkage Dendrogram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995928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linkage matrix using Ward method.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Cophenetic Correlation confirmed dendrogram faithfully represents pairwise distances.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86868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868680"/>
            <a:ext cx="502920" cy="12344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86868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03520" y="9418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Sweep (k=2–8)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03520" y="1252728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every k. Optimal k=2 scored 0.2325.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score revealed continuous customer spectrum — a key finding itself.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224028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240280"/>
            <a:ext cx="502920" cy="12344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224028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03520" y="23134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Profiling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2624328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Profiled each cluster by mean feature values.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Cross-tabulated with segment and identified fraud signals within groups.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9160" y="361188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3611880"/>
            <a:ext cx="502920" cy="12344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361188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03520" y="36850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Investigation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03520" y="3995928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Investigated discount anomalies, geographic concentration, and loss-generating customer accounts.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Critical Finding — Regional Discount Abuse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region carries 24% avg discount — 60% higher than West — yet produces the lowest profit and highest loss rate.</a:t>
            </a:r>
            <a:endParaRPr lang="en-US" sz="11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27432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3200400" y="1005840"/>
          <a:ext cx="27432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6126480" y="1005840"/>
          <a:ext cx="27432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Shape 2"/>
          <p:cNvSpPr/>
          <p:nvPr/>
        </p:nvSpPr>
        <p:spPr>
          <a:xfrm>
            <a:off x="274320" y="4206240"/>
            <a:ext cx="8595360" cy="658368"/>
          </a:xfrm>
          <a:prstGeom prst="rect">
            <a:avLst/>
          </a:prstGeom>
          <a:solidFill>
            <a:srgbClr val="7F1D1D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4315968"/>
            <a:ext cx="347472" cy="347472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68680" y="4224528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All 300 orders with 80% discount came exclusively from Central region (Texas + Illinois). Zero from any other region. This is not a coincidence.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Chronic Loss-Making Product Lines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822960"/>
          <a:ext cx="5303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943600" y="914400"/>
            <a:ext cx="2926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943600" y="914400"/>
            <a:ext cx="411480" cy="1143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261872"/>
            <a:ext cx="292608" cy="2926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46520" y="9875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446520" y="1261872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63.6% of all Table orders generate a loss. Avg 26% discount. Total loss: $17,725 over 4 years.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943600" y="2194560"/>
            <a:ext cx="2926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943600" y="2194560"/>
            <a:ext cx="411480" cy="11430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542032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46520" y="22677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Binders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446520" y="2542032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avg discount of any sub-category at 37%. 40% of orders result in a loss.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5943600" y="3474720"/>
            <a:ext cx="2926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5943600" y="3474720"/>
            <a:ext cx="411480" cy="11430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3822192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46520" y="35478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Bookcases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6446520" y="3822192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loss-making across all regions. $3,473 total loss despite moderate discount.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High-Risk Customer Accounts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sales + negative profit = discount applied at the business's expense.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60120"/>
          <a:ext cx="85953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343400"/>
            <a:ext cx="8595360" cy="548640"/>
          </a:xfrm>
          <a:prstGeom prst="rect">
            <a:avLst/>
          </a:prstGeom>
          <a:solidFill>
            <a:srgbClr val="1E3055"/>
          </a:solidFill>
          <a:ln w="12700">
            <a:solidFill>
              <a:srgbClr val="1E305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436168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Sean Miller: $25,043 in sales yet −$1,981 profit — highest revenue, still loss-making. All 8 accounts require order-level audit.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Profit Trend &amp; Clustering Results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82296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760720" y="822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Summary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760720" y="1234440"/>
            <a:ext cx="3108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60720" y="1234440"/>
            <a:ext cx="3108960" cy="34747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97880" y="1280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 — High Value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897880" y="167335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375 customers | High sales, strong profit, low discount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760720" y="2606040"/>
            <a:ext cx="3108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60720" y="2606040"/>
            <a:ext cx="3108960" cy="34747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97880" y="2651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 — Risk Group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897880" y="304495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418 customers | Lower sales, thin profit, higher discount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760720" y="4069080"/>
            <a:ext cx="3108960" cy="914400"/>
          </a:xfrm>
          <a:prstGeom prst="rect">
            <a:avLst/>
          </a:prstGeom>
          <a:solidFill>
            <a:srgbClr val="FEF3C7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97880" y="41148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Score: 0.2325
</a:t>
            </a:r>
            <a:pPr indent="0" marL="0">
              <a:buNone/>
            </a:pPr>
            <a:r>
              <a:rPr lang="en-US" sz="10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score confirms customers form a continuous spectrum — boundary customers are most vulnerable to discount manipulation.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56032" y="868680"/>
            <a:ext cx="274320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56032" y="868680"/>
            <a:ext cx="2743200" cy="5943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923544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" y="914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68096" y="11704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30 Days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65760" y="1572768"/>
            <a:ext cx="252374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all 300 orders at 80% discount in Texas &amp; Illinois — identify which staff accounts approved each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 single-user ability to apply discounts above 40% without second authorisation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transaction logs for all Central region sales staff covering 2014–2017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8 high-loss customer accounts for fictitious orders or coordinated patterns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63824" y="868680"/>
            <a:ext cx="274320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63824" y="868680"/>
            <a:ext cx="2743200" cy="5943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5264" y="92354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75888" y="914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675888" y="11704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30–90 Days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273552" y="1572768"/>
            <a:ext cx="252374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tiered discount approval: reps ≤20%, managers ≤40%, VP sign-off above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system alerts for any order where discount results in negative margin before confirmation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pricing review for Tables — cap discounts at 15% or exit unprofitable SKUs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Binders discount policy — 37% average discount is destroying high-volume margins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71616" y="868680"/>
            <a:ext cx="274320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71616" y="868680"/>
            <a:ext cx="2743200" cy="5943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056" y="923544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83680" y="914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583680" y="11704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90+ Days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181344" y="1572768"/>
            <a:ext cx="252374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sales commissions to profit contribution — not just revenue — to remove over-discount incentive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real-time discount monitoring dashboard by region and rep with weekly anomaly reports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clustering quarterly with enriched features: order frequency, return rate, product mix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formally exiting Tables in the East region where losses are structural and persistent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tells a clear, consistent story — this is not a statistical anomaly.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685800"/>
          </a:xfrm>
          <a:prstGeom prst="rect">
            <a:avLst/>
          </a:prstGeom>
          <a:solidFill>
            <a:srgbClr val="1E3055"/>
          </a:solidFill>
          <a:ln w="12700">
            <a:solidFill>
              <a:srgbClr val="1E305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39903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30759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300 maximum-discount orders concentrated in Central (Texas &amp; Illinois) over 4 years — statistically impossible by chance.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65760" y="2039112"/>
            <a:ext cx="8412480" cy="685800"/>
          </a:xfrm>
          <a:prstGeom prst="rect">
            <a:avLst/>
          </a:prstGeom>
          <a:solidFill>
            <a:srgbClr val="1E3055"/>
          </a:solidFill>
          <a:ln w="12700">
            <a:solidFill>
              <a:srgbClr val="1E305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203704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2112264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carries 24% avg discount vs West's 11%, yet produces the lowest profit ($39,706) and highest loss rate (31.9%).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65760" y="2843784"/>
            <a:ext cx="8412480" cy="685800"/>
          </a:xfrm>
          <a:prstGeom prst="rect">
            <a:avLst/>
          </a:prstGeom>
          <a:solidFill>
            <a:srgbClr val="1E3055"/>
          </a:solidFill>
          <a:ln w="12700">
            <a:solidFill>
              <a:srgbClr val="1E3055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008376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2916936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customer accounts generate consistent losses despite high sales — a hallmark of point-of-sale discount manipulation.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365760" y="3648456"/>
            <a:ext cx="8412480" cy="685800"/>
          </a:xfrm>
          <a:prstGeom prst="rect">
            <a:avLst/>
          </a:prstGeom>
          <a:solidFill>
            <a:srgbClr val="1E3055"/>
          </a:solidFill>
          <a:ln w="12700">
            <a:solidFill>
              <a:srgbClr val="1E3055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813048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60120" y="372160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is growing YoY ($49K → $93K) but masked losses are being offset by top performers — the underlying fraud risk remains.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An immediate forensic audit of Central region discount approvals is strongly recommended.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Fraud Detection — Superstore Case Study</dc:title>
  <dc:subject>PptxGenJS Presentation</dc:subject>
  <dc:creator>Efa Godspower</dc:creator>
  <cp:lastModifiedBy>Efa Godspower</cp:lastModifiedBy>
  <cp:revision>1</cp:revision>
  <dcterms:created xsi:type="dcterms:W3CDTF">2026-05-17T22:34:44Z</dcterms:created>
  <dcterms:modified xsi:type="dcterms:W3CDTF">2026-05-17T22:34:44Z</dcterms:modified>
</cp:coreProperties>
</file>